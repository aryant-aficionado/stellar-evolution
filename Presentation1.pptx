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0" r:id="rId2"/>
    <p:sldId id="257" r:id="rId3"/>
    <p:sldId id="258" r:id="rId4"/>
    <p:sldId id="261" r:id="rId5"/>
    <p:sldId id="263" r:id="rId6"/>
    <p:sldId id="259" r:id="rId7"/>
    <p:sldId id="262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10"/>
  </p:normalViewPr>
  <p:slideViewPr>
    <p:cSldViewPr snapToGrid="0">
      <p:cViewPr varScale="1">
        <p:scale>
          <a:sx n="113" d="100"/>
          <a:sy n="113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80/01621459.1958.10501452" TargetMode="External"/><Relationship Id="rId5" Type="http://schemas.openxmlformats.org/officeDocument/2006/relationships/hyperlink" Target="https://en.wikipedia.org/w/index.php?title=Hertzsprung%E2%80%93Russell_diagram&amp;oldid=1287087896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C09E4-3CB4-68D2-A300-6F0EA47E7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14400"/>
            <a:ext cx="6164653" cy="510822"/>
          </a:xfrm>
        </p:spPr>
        <p:txBody>
          <a:bodyPr>
            <a:normAutofit fontScale="90000"/>
          </a:bodyPr>
          <a:lstStyle/>
          <a:p>
            <a:r>
              <a:rPr lang="en-US" dirty="0"/>
              <a:t>History</a:t>
            </a:r>
          </a:p>
        </p:txBody>
      </p:sp>
      <p:pic>
        <p:nvPicPr>
          <p:cNvPr id="6" name="Picture Placeholder 5" descr="A screen shot of a graph&#10;&#10;AI-generated content may be incorrect.">
            <a:extLst>
              <a:ext uri="{FF2B5EF4-FFF2-40B4-BE49-F238E27FC236}">
                <a16:creationId xmlns:a16="http://schemas.microsoft.com/office/drawing/2014/main" id="{DA5CCBE5-0898-7DEF-1515-B98FF0F2739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9131" r="9131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3FD76-DCD2-20CE-BD8F-4BC3B51C0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1425222"/>
            <a:ext cx="6164653" cy="3375378"/>
          </a:xfrm>
        </p:spPr>
        <p:txBody>
          <a:bodyPr/>
          <a:lstStyle/>
          <a:p>
            <a:r>
              <a:rPr lang="en-US" b="1" dirty="0"/>
              <a:t>1920s: Hertzsprung-Russell Revolution</a:t>
            </a:r>
            <a:br>
              <a:rPr lang="en-US" dirty="0"/>
            </a:br>
            <a:r>
              <a:rPr lang="en-US" dirty="0"/>
              <a:t>Ejnar Hertzsprung and Henry Norris Russell independently discovered the correlation between luminosity and temperature, creating the HR diagram - the foundation of stellar evolution theory.</a:t>
            </a:r>
            <a:r>
              <a:rPr lang="en-US" baseline="30000" dirty="0"/>
              <a:t>[1]</a:t>
            </a:r>
            <a:endParaRPr lang="en-US" dirty="0"/>
          </a:p>
          <a:p>
            <a:r>
              <a:rPr lang="en-US" b="1" dirty="0"/>
              <a:t>1930s-1950s: Stellar Structure Breakthroughs</a:t>
            </a:r>
            <a:br>
              <a:rPr lang="en-US" dirty="0"/>
            </a:br>
            <a:r>
              <a:rPr lang="en-US" dirty="0"/>
              <a:t>Arthur Eddington established mass-luminosity relations; Subrahmanyan Chandrasekhar defined white dwarf mass limits; Fred Hoyle formulated nucleosynthesis theory.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9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C147-F79F-E1A2-50C3-4954EADD7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6282266" cy="1456267"/>
          </a:xfrm>
        </p:spPr>
        <p:txBody>
          <a:bodyPr>
            <a:normAutofit/>
          </a:bodyPr>
          <a:lstStyle/>
          <a:p>
            <a:r>
              <a:rPr lang="en-US" dirty="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F28FB-EB1C-710B-3165-11B6C5C84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6282266" cy="3649133"/>
          </a:xfrm>
        </p:spPr>
        <p:txBody>
          <a:bodyPr>
            <a:normAutofit/>
          </a:bodyPr>
          <a:lstStyle/>
          <a:p>
            <a:r>
              <a:rPr lang="en-US" b="1"/>
              <a:t>Source</a:t>
            </a:r>
            <a:r>
              <a:rPr lang="en-US"/>
              <a:t>: Gaia DR3 (ESA’s space observatory).</a:t>
            </a:r>
          </a:p>
          <a:p>
            <a:r>
              <a:rPr lang="en-US" b="1"/>
              <a:t>Filters</a:t>
            </a:r>
            <a:r>
              <a:rPr lang="en-US"/>
              <a:t>:</a:t>
            </a:r>
          </a:p>
          <a:p>
            <a:pPr lvl="1"/>
            <a:r>
              <a:rPr lang="en-US"/>
              <a:t>Stars within </a:t>
            </a:r>
            <a:r>
              <a:rPr lang="en-US" b="1"/>
              <a:t>100 pc</a:t>
            </a:r>
            <a:r>
              <a:rPr lang="en-US"/>
              <a:t> (parallax &gt; 10 mas).</a:t>
            </a:r>
          </a:p>
          <a:p>
            <a:pPr lvl="1"/>
            <a:r>
              <a:rPr lang="en-US"/>
              <a:t>High-quality astrometry (</a:t>
            </a:r>
            <a:r>
              <a:rPr lang="en-US" err="1"/>
              <a:t>ruwe</a:t>
            </a:r>
            <a:r>
              <a:rPr lang="en-US"/>
              <a:t> &lt; 1.4).</a:t>
            </a:r>
          </a:p>
          <a:p>
            <a:pPr lvl="1"/>
            <a:r>
              <a:rPr lang="en-US"/>
              <a:t>Bright stars (</a:t>
            </a:r>
            <a:r>
              <a:rPr lang="en-US" err="1"/>
              <a:t>phot_g_mean_mag</a:t>
            </a:r>
            <a:r>
              <a:rPr lang="en-US"/>
              <a:t> &lt; 15).</a:t>
            </a:r>
          </a:p>
          <a:p>
            <a:r>
              <a:rPr lang="en-US" b="1"/>
              <a:t>Sample Size</a:t>
            </a:r>
            <a:r>
              <a:rPr lang="en-US"/>
              <a:t>: 100,000 stars.</a:t>
            </a:r>
          </a:p>
          <a:p>
            <a:r>
              <a:rPr lang="en-US" b="1"/>
              <a:t>Key Attributes</a:t>
            </a:r>
            <a:r>
              <a:rPr lang="en-US"/>
              <a:t>:</a:t>
            </a:r>
          </a:p>
          <a:p>
            <a:pPr lvl="1"/>
            <a:r>
              <a:rPr lang="en-US"/>
              <a:t>Parallax, BP/RP magnitudes, temperature (</a:t>
            </a:r>
            <a:r>
              <a:rPr lang="en-US" err="1"/>
              <a:t>teff_gspphot</a:t>
            </a:r>
            <a:r>
              <a:rPr lang="en-US"/>
              <a:t>).</a:t>
            </a:r>
          </a:p>
          <a:p>
            <a:pPr lvl="1"/>
            <a:r>
              <a:rPr lang="en-US"/>
              <a:t>Variability flag, radial velocity.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9EB15-8981-0338-BC23-49CA5F978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936" y="1780029"/>
            <a:ext cx="3445714" cy="3221741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6135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117F0C1-BCBB-40C7-99D6-F703E7A4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5D8BC-B41A-4E96-91C4-D60F51622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321D5F-FA18-4271-9EAA-0BEA14116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6E29B9-EF28-0829-ABCE-A9F20D42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531278"/>
            <a:ext cx="3211517" cy="52925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Python Libraries used</a:t>
            </a: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51287385-D3EA-47A8-A127-6061791AD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422108" y="0"/>
            <a:ext cx="7769892" cy="6858000"/>
          </a:xfrm>
          <a:custGeom>
            <a:avLst/>
            <a:gdLst>
              <a:gd name="connsiteX0" fmla="*/ 1779516 w 7769892"/>
              <a:gd name="connsiteY0" fmla="*/ 0 h 6837536"/>
              <a:gd name="connsiteX1" fmla="*/ 6454848 w 7769892"/>
              <a:gd name="connsiteY1" fmla="*/ 0 h 6837536"/>
              <a:gd name="connsiteX2" fmla="*/ 6511730 w 7769892"/>
              <a:gd name="connsiteY2" fmla="*/ 37905 h 6837536"/>
              <a:gd name="connsiteX3" fmla="*/ 7769892 w 7769892"/>
              <a:gd name="connsiteY3" fmla="*/ 1486041 h 6837536"/>
              <a:gd name="connsiteX4" fmla="*/ 7769892 w 7769892"/>
              <a:gd name="connsiteY4" fmla="*/ 5281056 h 6837536"/>
              <a:gd name="connsiteX5" fmla="*/ 6353475 w 7769892"/>
              <a:gd name="connsiteY5" fmla="*/ 6837536 h 6837536"/>
              <a:gd name="connsiteX6" fmla="*/ 1882727 w 7769892"/>
              <a:gd name="connsiteY6" fmla="*/ 6837536 h 6837536"/>
              <a:gd name="connsiteX7" fmla="*/ 0 w 7769892"/>
              <a:gd name="connsiteY7" fmla="*/ 3386463 h 6837536"/>
              <a:gd name="connsiteX8" fmla="*/ 1655292 w 7769892"/>
              <a:gd name="connsiteY8" fmla="*/ 88307 h 683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892" h="6837536">
                <a:moveTo>
                  <a:pt x="1779516" y="0"/>
                </a:moveTo>
                <a:lnTo>
                  <a:pt x="6454848" y="0"/>
                </a:lnTo>
                <a:lnTo>
                  <a:pt x="6511730" y="37905"/>
                </a:lnTo>
                <a:cubicBezTo>
                  <a:pt x="7036410" y="413592"/>
                  <a:pt x="7468976" y="909648"/>
                  <a:pt x="7769892" y="1486041"/>
                </a:cubicBezTo>
                <a:cubicBezTo>
                  <a:pt x="7769892" y="1486041"/>
                  <a:pt x="7769892" y="1486041"/>
                  <a:pt x="7769892" y="5281056"/>
                </a:cubicBezTo>
                <a:cubicBezTo>
                  <a:pt x="7437646" y="5916473"/>
                  <a:pt x="6953850" y="6452788"/>
                  <a:pt x="6353475" y="6837536"/>
                </a:cubicBezTo>
                <a:cubicBezTo>
                  <a:pt x="6353475" y="6837536"/>
                  <a:pt x="6353475" y="6837536"/>
                  <a:pt x="1882727" y="6837536"/>
                </a:cubicBezTo>
                <a:cubicBezTo>
                  <a:pt x="751925" y="6103017"/>
                  <a:pt x="0" y="4832183"/>
                  <a:pt x="0" y="3386463"/>
                </a:cubicBezTo>
                <a:cubicBezTo>
                  <a:pt x="0" y="2036566"/>
                  <a:pt x="651406" y="838748"/>
                  <a:pt x="1655292" y="88307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6DB8A9-30F2-D58B-55AC-9D35EF5642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3669301"/>
              </p:ext>
            </p:extLst>
          </p:nvPr>
        </p:nvGraphicFramePr>
        <p:xfrm>
          <a:off x="5617029" y="1572211"/>
          <a:ext cx="5741534" cy="3614204"/>
        </p:xfrm>
        <a:graphic>
          <a:graphicData uri="http://schemas.openxmlformats.org/drawingml/2006/table">
            <a:tbl>
              <a:tblPr/>
              <a:tblGrid>
                <a:gridCol w="2266064">
                  <a:extLst>
                    <a:ext uri="{9D8B030D-6E8A-4147-A177-3AD203B41FA5}">
                      <a16:colId xmlns:a16="http://schemas.microsoft.com/office/drawing/2014/main" val="3964064083"/>
                    </a:ext>
                  </a:extLst>
                </a:gridCol>
                <a:gridCol w="3475470">
                  <a:extLst>
                    <a:ext uri="{9D8B030D-6E8A-4147-A177-3AD203B41FA5}">
                      <a16:colId xmlns:a16="http://schemas.microsoft.com/office/drawing/2014/main" val="3235573187"/>
                    </a:ext>
                  </a:extLst>
                </a:gridCol>
              </a:tblGrid>
              <a:tr h="709471">
                <a:tc>
                  <a:txBody>
                    <a:bodyPr/>
                    <a:lstStyle/>
                    <a:p>
                      <a:r>
                        <a:rPr lang="en-US" sz="2500">
                          <a:solidFill>
                            <a:srgbClr val="B7B7B7"/>
                          </a:solidFill>
                          <a:effectLst/>
                        </a:rPr>
                        <a:t>Data Query</a:t>
                      </a:r>
                    </a:p>
                  </a:txBody>
                  <a:tcPr marL="129387" marR="134778" marT="134778" marB="1347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>
                          <a:solidFill>
                            <a:srgbClr val="B7B7B7"/>
                          </a:solidFill>
                          <a:effectLst/>
                        </a:rPr>
                        <a:t>astroquery.gaia</a:t>
                      </a:r>
                    </a:p>
                  </a:txBody>
                  <a:tcPr marL="134778" marR="134778" marT="134778" marB="1347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094668"/>
                  </a:ext>
                </a:extLst>
              </a:tr>
              <a:tr h="1097631">
                <a:tc>
                  <a:txBody>
                    <a:bodyPr/>
                    <a:lstStyle/>
                    <a:p>
                      <a:r>
                        <a:rPr lang="en-US" sz="2500">
                          <a:solidFill>
                            <a:srgbClr val="B7B7B7"/>
                          </a:solidFill>
                          <a:effectLst/>
                        </a:rPr>
                        <a:t>Data Processing</a:t>
                      </a:r>
                    </a:p>
                  </a:txBody>
                  <a:tcPr marL="129387" marR="134778" marT="134778" marB="13477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>
                          <a:solidFill>
                            <a:srgbClr val="B7B7B7"/>
                          </a:solidFill>
                          <a:effectLst/>
                        </a:rPr>
                        <a:t>pandas, numpy</a:t>
                      </a:r>
                    </a:p>
                  </a:txBody>
                  <a:tcPr marL="134778" marR="134778" marT="134778" marB="13477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981957"/>
                  </a:ext>
                </a:extLst>
              </a:tr>
              <a:tr h="709471">
                <a:tc>
                  <a:txBody>
                    <a:bodyPr/>
                    <a:lstStyle/>
                    <a:p>
                      <a:r>
                        <a:rPr lang="en-US" sz="2500">
                          <a:solidFill>
                            <a:srgbClr val="B7B7B7"/>
                          </a:solidFill>
                          <a:effectLst/>
                        </a:rPr>
                        <a:t>Visualization</a:t>
                      </a:r>
                    </a:p>
                  </a:txBody>
                  <a:tcPr marL="129387" marR="134778" marT="134778" marB="13477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>
                          <a:solidFill>
                            <a:srgbClr val="B7B7B7"/>
                          </a:solidFill>
                          <a:effectLst/>
                        </a:rPr>
                        <a:t>matplotlib, seaborn</a:t>
                      </a:r>
                    </a:p>
                  </a:txBody>
                  <a:tcPr marL="134778" marR="134778" marT="134778" marB="13477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405535"/>
                  </a:ext>
                </a:extLst>
              </a:tr>
              <a:tr h="1097631">
                <a:tc>
                  <a:txBody>
                    <a:bodyPr/>
                    <a:lstStyle/>
                    <a:p>
                      <a:r>
                        <a:rPr lang="en-US" sz="2500">
                          <a:solidFill>
                            <a:srgbClr val="B7B7B7"/>
                          </a:solidFill>
                          <a:effectLst/>
                        </a:rPr>
                        <a:t>Clustering</a:t>
                      </a:r>
                    </a:p>
                  </a:txBody>
                  <a:tcPr marL="129387" marR="134778" marT="134778" marB="13477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solidFill>
                            <a:srgbClr val="B7B7B7"/>
                          </a:solidFill>
                          <a:effectLst/>
                        </a:rPr>
                        <a:t>scikit-learn (</a:t>
                      </a:r>
                      <a:r>
                        <a:rPr lang="en-US" sz="2500" dirty="0" err="1">
                          <a:solidFill>
                            <a:srgbClr val="B7B7B7"/>
                          </a:solidFill>
                          <a:effectLst/>
                        </a:rPr>
                        <a:t>KMeans</a:t>
                      </a:r>
                      <a:r>
                        <a:rPr lang="en-US" sz="2500" dirty="0">
                          <a:solidFill>
                            <a:srgbClr val="B7B7B7"/>
                          </a:solidFill>
                          <a:effectLst/>
                        </a:rPr>
                        <a:t>, GMM)</a:t>
                      </a:r>
                    </a:p>
                  </a:txBody>
                  <a:tcPr marL="134778" marR="134778" marT="134778" marB="13477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474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975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C507-76B0-6967-60A8-4F0AA249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651" y="643465"/>
            <a:ext cx="3746091" cy="3731890"/>
          </a:xfrm>
        </p:spPr>
        <p:txBody>
          <a:bodyPr>
            <a:normAutofit/>
          </a:bodyPr>
          <a:lstStyle/>
          <a:p>
            <a:r>
              <a:rPr lang="en-US" dirty="0"/>
              <a:t>Planned workflow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ADEEA0-7F2B-F2CC-44D5-200EF4BA1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9650" y="643464"/>
            <a:ext cx="6838883" cy="3731891"/>
          </a:xfrm>
        </p:spPr>
        <p:txBody>
          <a:bodyPr>
            <a:normAutofit/>
          </a:bodyPr>
          <a:lstStyle/>
          <a:p>
            <a:r>
              <a:rPr lang="en-US" dirty="0"/>
              <a:t>Data preprocessing for the parallax and absolute magnitude</a:t>
            </a:r>
          </a:p>
          <a:p>
            <a:r>
              <a:rPr lang="en-US" dirty="0"/>
              <a:t>HR diagram clustering on the threshold of </a:t>
            </a:r>
            <a:r>
              <a:rPr lang="en-US" dirty="0" err="1"/>
              <a:t>bp_rp</a:t>
            </a:r>
            <a:r>
              <a:rPr lang="en-US" dirty="0"/>
              <a:t> and </a:t>
            </a:r>
            <a:r>
              <a:rPr lang="en-US" dirty="0" err="1"/>
              <a:t>abs_mag</a:t>
            </a:r>
            <a:r>
              <a:rPr lang="en-US" dirty="0"/>
              <a:t>, with ML models like GMM, DBSCAN.</a:t>
            </a:r>
          </a:p>
          <a:p>
            <a:r>
              <a:rPr lang="en-US" dirty="0"/>
              <a:t>Stellar lifeline prediction using the models like Kaplan-Meier estimator and Cox PH.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EAEB41-066B-E41E-5066-CA50EE7EC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4375355"/>
            <a:ext cx="10915883" cy="201168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1982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0C36D-0227-C1C4-CB7E-538DA8BCF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en-US"/>
              <a:t>Results So Far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30C211-3028-C360-CB03-6E95AE0F93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2178" y="2261420"/>
                <a:ext cx="4002936" cy="363793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 Shape: (73,148 rows, 12 columns) -&gt; Final Shape: (70118, 12)</a:t>
                </a:r>
              </a:p>
              <a:p>
                <a:r>
                  <a:rPr lang="en-US" dirty="0"/>
                  <a:t>Filter Applied: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Keep stars with parallax error &lt; 20%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 err="1"/>
                  <a:t>distance_pc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𝑝𝑎𝑟𝑎𝑙𝑙𝑎𝑥</m:t>
                        </m:r>
                      </m:den>
                    </m:f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M</a:t>
                </a:r>
                <a:r>
                  <a:rPr lang="en-US" baseline="-25000" dirty="0"/>
                  <a:t>G </a:t>
                </a:r>
                <a:r>
                  <a:rPr lang="en-US" dirty="0"/>
                  <a:t>= phot_g_mean_mag−5 x log(</a:t>
                </a:r>
                <a:r>
                  <a:rPr lang="en-US" dirty="0" err="1"/>
                  <a:t>distance_pc</a:t>
                </a:r>
                <a:r>
                  <a:rPr lang="en-US" dirty="0"/>
                  <a:t>)+5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30C211-3028-C360-CB03-6E95AE0F93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2178" y="2261420"/>
                <a:ext cx="4002936" cy="3637935"/>
              </a:xfrm>
              <a:blipFill>
                <a:blip r:embed="rId3"/>
                <a:stretch>
                  <a:fillRect l="-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8FC148-BD8E-7EB4-92E0-3CC4D7D2C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303835"/>
              </p:ext>
            </p:extLst>
          </p:nvPr>
        </p:nvGraphicFramePr>
        <p:xfrm>
          <a:off x="5289752" y="2319242"/>
          <a:ext cx="6095596" cy="2057289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942984">
                  <a:extLst>
                    <a:ext uri="{9D8B030D-6E8A-4147-A177-3AD203B41FA5}">
                      <a16:colId xmlns:a16="http://schemas.microsoft.com/office/drawing/2014/main" val="1847459598"/>
                    </a:ext>
                  </a:extLst>
                </a:gridCol>
                <a:gridCol w="1299141">
                  <a:extLst>
                    <a:ext uri="{9D8B030D-6E8A-4147-A177-3AD203B41FA5}">
                      <a16:colId xmlns:a16="http://schemas.microsoft.com/office/drawing/2014/main" val="2544765600"/>
                    </a:ext>
                  </a:extLst>
                </a:gridCol>
                <a:gridCol w="1935677">
                  <a:extLst>
                    <a:ext uri="{9D8B030D-6E8A-4147-A177-3AD203B41FA5}">
                      <a16:colId xmlns:a16="http://schemas.microsoft.com/office/drawing/2014/main" val="359670562"/>
                    </a:ext>
                  </a:extLst>
                </a:gridCol>
                <a:gridCol w="1062713">
                  <a:extLst>
                    <a:ext uri="{9D8B030D-6E8A-4147-A177-3AD203B41FA5}">
                      <a16:colId xmlns:a16="http://schemas.microsoft.com/office/drawing/2014/main" val="1536922650"/>
                    </a:ext>
                  </a:extLst>
                </a:gridCol>
                <a:gridCol w="855081">
                  <a:extLst>
                    <a:ext uri="{9D8B030D-6E8A-4147-A177-3AD203B41FA5}">
                      <a16:colId xmlns:a16="http://schemas.microsoft.com/office/drawing/2014/main" val="32047285"/>
                    </a:ext>
                  </a:extLst>
                </a:gridCol>
              </a:tblGrid>
              <a:tr h="39137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500" b="0" cap="none" spc="0">
                          <a:solidFill>
                            <a:schemeClr val="bg1"/>
                          </a:solidFill>
                          <a:effectLst/>
                        </a:rPr>
                        <a:t>parallax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500" b="0" cap="none" spc="0">
                          <a:solidFill>
                            <a:schemeClr val="bg1"/>
                          </a:solidFill>
                          <a:effectLst/>
                        </a:rPr>
                        <a:t>distance_pc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500" b="0" cap="none" spc="0">
                          <a:solidFill>
                            <a:schemeClr val="bg1"/>
                          </a:solidFill>
                          <a:effectLst/>
                        </a:rPr>
                        <a:t>phot_g_mean_mag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500" b="0" cap="none" spc="0">
                          <a:solidFill>
                            <a:schemeClr val="bg1"/>
                          </a:solidFill>
                          <a:effectLst/>
                        </a:rPr>
                        <a:t>abs_mag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87296" marR="87296" marT="87296" marB="4364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86641"/>
                  </a:ext>
                </a:extLst>
              </a:tr>
              <a:tr h="333182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13.398257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74.636572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13.470652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9.105894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3679"/>
                  </a:ext>
                </a:extLst>
              </a:tr>
              <a:tr h="333182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19.588654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51.049959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6.224640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2.684663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521633"/>
                  </a:ext>
                </a:extLst>
              </a:tr>
              <a:tr h="333182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10.326266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96.840427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13.695807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8.765524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423345"/>
                  </a:ext>
                </a:extLst>
              </a:tr>
              <a:tr h="333182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11.136129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89.797807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14.756236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9.989907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6224"/>
                  </a:ext>
                </a:extLst>
              </a:tr>
              <a:tr h="333182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17.357228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57.612888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10.476051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6.673453</a:t>
                      </a:r>
                    </a:p>
                  </a:txBody>
                  <a:tcPr marL="72747" marR="72747" marT="87296" marB="363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746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234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9CB3C-F30A-43D2-4A30-CCCB47A98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>
            <a:normAutofit fontScale="90000"/>
          </a:bodyPr>
          <a:lstStyle/>
          <a:p>
            <a:r>
              <a:rPr lang="en-US" dirty="0"/>
              <a:t>Effective temperature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FA7A65-A24F-0091-3A02-B64EC217F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4" y="1855751"/>
            <a:ext cx="6897878" cy="3155779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8045819-1A71-2505-54CD-2831E38DF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06" y="2251587"/>
            <a:ext cx="3706762" cy="3972232"/>
          </a:xfrm>
        </p:spPr>
        <p:txBody>
          <a:bodyPr>
            <a:normAutofit/>
          </a:bodyPr>
          <a:lstStyle/>
          <a:p>
            <a:r>
              <a:rPr lang="en-US" dirty="0"/>
              <a:t>The distribution is skewed , with a peak around 3,500–4,000 K .</a:t>
            </a:r>
          </a:p>
          <a:p>
            <a:r>
              <a:rPr lang="en-US" dirty="0"/>
              <a:t>Most stars have temperatures in the range of 3,000–6,500 K .</a:t>
            </a:r>
          </a:p>
          <a:p>
            <a:r>
              <a:rPr lang="en-US" dirty="0"/>
              <a:t>Few stars are present at higher temperatures (&gt;6,000 K).</a:t>
            </a:r>
          </a:p>
          <a:p>
            <a:r>
              <a:rPr lang="en-US" dirty="0"/>
              <a:t>The peak suggests that main-sequence stars dominate the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41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DFEF2-C99A-DB33-9929-E0D30DCBE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en-US" dirty="0"/>
              <a:t>Density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24A0A-64C6-6275-A008-8E2E8099A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/>
              <a:t>The distribution shows a peak around 85–95 parsecs .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There is a gradual increase in the number of stars as distance increases up to ~95 pc.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Beyond 95 pc, the count decreases sharply.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Most stars in the dataset are located within 65–95 parsecs , indicating a focus on nearby stars.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The decline beyond 100 pc suggests that the dataset prioritizes stars with closer stars.</a:t>
            </a:r>
          </a:p>
          <a:p>
            <a:pPr>
              <a:lnSpc>
                <a:spcPct val="90000"/>
              </a:lnSpc>
            </a:pPr>
            <a:endParaRPr lang="en-US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90CD02-53AB-D6B8-3F92-1F701E7D8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534" y="1936293"/>
            <a:ext cx="6454951" cy="298541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5154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C3B96C-BD62-FCB0-98C1-0E16E276968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4803" b="8325"/>
          <a:stretch>
            <a:fillRect/>
          </a:stretch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A89926-DED0-BE50-7F4B-1E5DAE3B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436565"/>
            <a:ext cx="4885007" cy="720969"/>
          </a:xfrm>
        </p:spPr>
        <p:txBody>
          <a:bodyPr>
            <a:normAutofit/>
          </a:bodyPr>
          <a:lstStyle/>
          <a:p>
            <a:r>
              <a:rPr lang="en-US" dirty="0"/>
              <a:t>Preliminary HR Diagram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FD8C03E-BDBB-3739-814A-A2D330F1B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1" y="2268416"/>
            <a:ext cx="4885006" cy="34776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clear diagonal band where most stars lie, indicating a strong correlation between temperature and luminosity.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Cooler stars (higher BP - RP) have lower temperatures and are darker, which can be red giants.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Hotter stars (lower BP - RP) have higher temperatures and are brighter, can be white Dwarfs.</a:t>
            </a:r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B19280-6F00-A303-634A-33CB2678C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424" y="1436565"/>
            <a:ext cx="6032500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80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53ED3FC-3BE8-4F1F-BEF1-74B1C7217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8A4AB8-1B40-EBEF-1615-FA7702D79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Stellar Density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CEA9E-0069-DDB0-C193-7BA1A5E08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2178" y="2261420"/>
            <a:ext cx="4002936" cy="36379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1700" dirty="0"/>
              <a:t>The diagonal band is clearly visible, representing the main sequence where most stars lie.</a:t>
            </a: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1700" dirty="0"/>
              <a:t>Brighter Regions (Red/Orange): Indicate areas with higher stellar density.</a:t>
            </a: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1700" dirty="0"/>
              <a:t>Darker Regions (Black): Indicate areas with lower stellar density.</a:t>
            </a: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1700" dirty="0"/>
              <a:t>The main sequence shows a high density of stars, as expected.</a:t>
            </a: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1700" dirty="0"/>
              <a:t>The main sequence is the most densely populated region, reflecting the prevalence of active hydrogen-burning stars.</a:t>
            </a:r>
          </a:p>
          <a:p>
            <a:pPr>
              <a:lnSpc>
                <a:spcPct val="90000"/>
              </a:lnSpc>
              <a:buFont typeface="Arial"/>
              <a:buChar char="•"/>
            </a:pPr>
            <a:endParaRPr lang="en-US" sz="1700" dirty="0"/>
          </a:p>
          <a:p>
            <a:pPr>
              <a:lnSpc>
                <a:spcPct val="90000"/>
              </a:lnSpc>
              <a:buFont typeface="Arial"/>
              <a:buChar char="•"/>
            </a:pPr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E5A03-8987-ADF4-8C85-192C36993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752" y="1831606"/>
            <a:ext cx="6095593" cy="3032557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9411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C895F7-4E59-40FB-87DD-ACE47F94C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ne big red thumbtack in front of many smaller black thumbtacks">
            <a:extLst>
              <a:ext uri="{FF2B5EF4-FFF2-40B4-BE49-F238E27FC236}">
                <a16:creationId xmlns:a16="http://schemas.microsoft.com/office/drawing/2014/main" id="{7DF1FA30-5595-54B1-781F-3D16CF72E25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16741" b="620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4C720E-710D-44F8-A8D7-2BAA61E1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2CF41D-1CEA-2EF9-87A9-23A83E66D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585633"/>
            <a:ext cx="7197726" cy="722662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7AA77-F0A3-DCE7-2671-EBE10391A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1893918"/>
            <a:ext cx="7197726" cy="3806971"/>
          </a:xfrm>
        </p:spPr>
        <p:txBody>
          <a:bodyPr>
            <a:normAutofit fontScale="92500"/>
          </a:bodyPr>
          <a:lstStyle/>
          <a:p>
            <a:pPr algn="l"/>
            <a:r>
              <a:rPr lang="en-US" dirty="0"/>
              <a:t>[1] Wikipedia contributors. (2025, April 23). Hertzsprung–Russell diagram. In </a:t>
            </a:r>
            <a:r>
              <a:rPr lang="en-US" i="1" dirty="0"/>
              <a:t>Wikipedia, The Free Encyclopedia</a:t>
            </a:r>
            <a:r>
              <a:rPr lang="en-US" dirty="0"/>
              <a:t>. Retrieved 12:57, June 13, 2025,from </a:t>
            </a:r>
            <a:r>
              <a:rPr lang="en-US" dirty="0">
                <a:hlinkClick r:id="rId5"/>
              </a:rPr>
              <a:t>https://en.wikipedia.org/w/index.php?title=Hertzsprung%E2%80%93Russell_diagram&amp;oldid=1287087896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[2] Maltsev, K., Schneider, F. R. N., </a:t>
            </a:r>
            <a:r>
              <a:rPr lang="en-US" dirty="0" err="1"/>
              <a:t>Röpke</a:t>
            </a:r>
            <a:r>
              <a:rPr lang="en-US" dirty="0"/>
              <a:t>, F. K., Jordan, A. I., Qadir, G. A., </a:t>
            </a:r>
            <a:r>
              <a:rPr lang="en-US" dirty="0" err="1"/>
              <a:t>Kerzendorf</a:t>
            </a:r>
            <a:r>
              <a:rPr lang="en-US" dirty="0"/>
              <a:t>, W. E., Riedmiller, K., &amp; Van Der </a:t>
            </a:r>
            <a:r>
              <a:rPr lang="en-US" dirty="0" err="1"/>
              <a:t>Smagt</a:t>
            </a:r>
            <a:r>
              <a:rPr lang="en-US" dirty="0"/>
              <a:t>, P. (2023). Scalable stellar evolution forecasting. </a:t>
            </a:r>
            <a:r>
              <a:rPr lang="en-US" i="1" dirty="0"/>
              <a:t>Astronomy and Astrophysics</a:t>
            </a:r>
            <a:r>
              <a:rPr lang="en-US" dirty="0"/>
              <a:t>, </a:t>
            </a:r>
            <a:r>
              <a:rPr lang="en-US" i="1" dirty="0"/>
              <a:t>681</a:t>
            </a:r>
            <a:r>
              <a:rPr lang="en-US" dirty="0"/>
              <a:t>, A86. https://</a:t>
            </a:r>
            <a:r>
              <a:rPr lang="en-US" dirty="0" err="1"/>
              <a:t>doi.org</a:t>
            </a:r>
            <a:r>
              <a:rPr lang="en-US" dirty="0"/>
              <a:t>/10.1051/0004-6361/202347118.</a:t>
            </a:r>
          </a:p>
          <a:p>
            <a:pPr algn="l"/>
            <a:r>
              <a:rPr lang="en-US" dirty="0"/>
              <a:t>[3] Kaplan, E. L., &amp; Meier, P. (1958). Nonparametric Estimation from Incomplete Observations. </a:t>
            </a:r>
            <a:r>
              <a:rPr lang="en-US" i="1" dirty="0"/>
              <a:t>Journal of the American Statistical Association</a:t>
            </a:r>
            <a:r>
              <a:rPr lang="en-US" dirty="0"/>
              <a:t>, </a:t>
            </a:r>
            <a:r>
              <a:rPr lang="en-US" i="1" dirty="0"/>
              <a:t>53</a:t>
            </a:r>
            <a:r>
              <a:rPr lang="en-US" dirty="0"/>
              <a:t>(282), 457–481. </a:t>
            </a:r>
            <a:r>
              <a:rPr lang="en-US" dirty="0">
                <a:hlinkClick r:id="rId6"/>
              </a:rPr>
              <a:t>https://doi.org/10.1080/01621459.1958.10501452</a:t>
            </a:r>
            <a:r>
              <a:rPr lang="en-US" dirty="0"/>
              <a:t>.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0210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1066</TotalTime>
  <Words>730</Words>
  <Application>Microsoft Macintosh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Celestial</vt:lpstr>
      <vt:lpstr>History</vt:lpstr>
      <vt:lpstr>Data Collection</vt:lpstr>
      <vt:lpstr>Python Libraries used</vt:lpstr>
      <vt:lpstr>Planned workflow</vt:lpstr>
      <vt:lpstr>Results So Far</vt:lpstr>
      <vt:lpstr>Effective temperature distribution</vt:lpstr>
      <vt:lpstr>Density Distribution</vt:lpstr>
      <vt:lpstr>Preliminary HR Diagram</vt:lpstr>
      <vt:lpstr>Stellar Density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Tiwari</dc:creator>
  <cp:lastModifiedBy>Aryan Tiwari</cp:lastModifiedBy>
  <cp:revision>2</cp:revision>
  <dcterms:created xsi:type="dcterms:W3CDTF">2025-06-12T19:19:52Z</dcterms:created>
  <dcterms:modified xsi:type="dcterms:W3CDTF">2025-06-13T13:06:37Z</dcterms:modified>
</cp:coreProperties>
</file>